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749808"/>
            <a:ext cx="128016" cy="914400"/>
          </a:xfrm>
          <a:prstGeom prst="rect">
            <a:avLst/>
          </a:prstGeom>
          <a:solidFill>
            <a:srgbClr val="7C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758952"/>
            <a:ext cx="7863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6DCAE"/>
                </a:solidFill>
                <a:latin typeface="Aptos"/>
              </a:rPr>
              <a:t>CCD LAB PROJECT  / 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768096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CPU Object
Detection Serving
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86200"/>
            <a:ext cx="8595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BEB8D0"/>
                </a:solidFill>
                <a:latin typeface="Aptos"/>
              </a:rPr>
              <a:t>YOLOv8n ONNX  •  FastAPI  •  Kubernetes HPA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4754880"/>
            <a:ext cx="4160520" cy="713232"/>
          </a:xfrm>
          <a:prstGeom prst="roundRect">
            <a:avLst/>
          </a:prstGeom>
          <a:solidFill>
            <a:srgbClr val="25203E"/>
          </a:solidFill>
          <a:ln w="12700">
            <a:solidFill>
              <a:srgbClr val="2F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4919472"/>
            <a:ext cx="37490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LOCAL LAB DELIVERY  |  CPU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897880"/>
            <a:ext cx="9692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EB8D0"/>
                </a:solidFill>
                <a:latin typeface="Aptos"/>
              </a:rPr>
              <a:t>Single-node Minikube evidence; not AWS or production acceptance.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02920"/>
          </a:xfrm>
          <a:prstGeom prst="rect">
            <a:avLst/>
          </a:prstGeom>
          <a:solidFill>
            <a:srgbClr val="7C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383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A real image API, not the original sentiment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The project intentionally replaced the text-sentiment example with object detection.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3716"/>
          </a:xfrm>
          <a:prstGeom prst="rect">
            <a:avLst/>
          </a:prstGeom>
          <a:solidFill>
            <a:srgbClr val="2F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9966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EB8D0"/>
                </a:solidFill>
                <a:latin typeface="Aptos"/>
              </a:rPr>
              <a:t>Source: docs/SCOPE_RECONCILIATION.md • docs/API_CONTRACT.md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EB8D0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074920" cy="438912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6DCAE"/>
                </a:solidFill>
                <a:latin typeface="Aptos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03120"/>
            <a:ext cx="4389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POST /api/detect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88920"/>
            <a:ext cx="4343400" cy="2377440"/>
          </a:xfrm>
          <a:prstGeom prst="rect">
            <a:avLst/>
          </a:prstGeom>
          <a:noFill/>
        </p:spPr>
        <p:txBody>
          <a:bodyPr wrap="square" lIns="64008" rIns="36576" tIns="36576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Raw JPEG, PNG, or WebP bytes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YOLOv8n ONNX model on CPU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Confidence, IoU, and detection-count controls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Optional API key protects /api/* and /metrics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074920" cy="438912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69164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6DCAE"/>
                </a:solidFill>
                <a:latin typeface="Aptos"/>
              </a:rPr>
              <a:t>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103120"/>
            <a:ext cx="4389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Objects + coordinates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788920"/>
            <a:ext cx="4343400" cy="2377440"/>
          </a:xfrm>
          <a:prstGeom prst="rect">
            <a:avLst/>
          </a:prstGeom>
          <a:noFill/>
        </p:spPr>
        <p:txBody>
          <a:bodyPr wrap="square" lIns="64008" rIns="36576" tIns="36576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COCO class labels and confidence scores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Boxes in EXIF-oriented original-image pixels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Decode, inference, and postprocess timing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Bounded bytes/pixels, concurrency, and timeout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6007608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C059"/>
                </a:solidFill>
                <a:latin typeface="Aptos"/>
              </a:rPr>
              <a:t>Raw image upload → validated detections; no text or base64 JSON endpoint.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02920"/>
          </a:xfrm>
          <a:prstGeom prst="rect">
            <a:avLst/>
          </a:prstGeom>
          <a:solidFill>
            <a:srgbClr val="7C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383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One Service, bounded Pods, CPU-driven HPA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Local request path and the separate, optional AWS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3716"/>
          </a:xfrm>
          <a:prstGeom prst="rect">
            <a:avLst/>
          </a:prstGeom>
          <a:solidFill>
            <a:srgbClr val="2F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9966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EB8D0"/>
                </a:solidFill>
                <a:latin typeface="Aptos"/>
              </a:rPr>
              <a:t>Source: docs/ARCHITECTURE.md • docs/RUNBOOK.md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EB8D0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7909560" cy="4343400"/>
          </a:xfrm>
          <a:prstGeom prst="roundRect">
            <a:avLst/>
          </a:prstGeom>
          <a:solidFill>
            <a:srgbClr val="25203E"/>
          </a:solidFill>
          <a:ln w="12700">
            <a:solidFill>
              <a:srgbClr val="2F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2763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6DCAE"/>
                </a:solidFill>
                <a:latin typeface="Aptos"/>
              </a:rPr>
              <a:t>LOCAL MINIKUBE — ONE NODE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31720"/>
            <a:ext cx="1691640" cy="914400"/>
          </a:xfrm>
          <a:prstGeom prst="roundRect">
            <a:avLst/>
          </a:prstGeom>
          <a:solidFill>
            <a:srgbClr val="2F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87168"/>
            <a:ext cx="15453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834640"/>
            <a:ext cx="1545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EB8D0"/>
                </a:solidFill>
                <a:latin typeface="Aptos"/>
              </a:rPr>
              <a:t>Studio /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331720"/>
            <a:ext cx="1691640" cy="914400"/>
          </a:xfrm>
          <a:prstGeom prst="roundRect">
            <a:avLst/>
          </a:prstGeom>
          <a:solidFill>
            <a:srgbClr val="2F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487168"/>
            <a:ext cx="15453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834640"/>
            <a:ext cx="1545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EB8D0"/>
                </a:solidFill>
                <a:latin typeface="Aptos"/>
              </a:rPr>
              <a:t>NodePort :30080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2331720"/>
            <a:ext cx="2194560" cy="914400"/>
          </a:xfrm>
          <a:prstGeom prst="roundRect">
            <a:avLst/>
          </a:prstGeom>
          <a:solidFill>
            <a:srgbClr val="2F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9512" y="2487168"/>
            <a:ext cx="2048255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Serving Pods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834640"/>
            <a:ext cx="2048255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EB8D0"/>
                </a:solidFill>
                <a:latin typeface="Aptos"/>
              </a:rPr>
              <a:t>1 → 3 replicas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551176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7C56FF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551176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7C56F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160520"/>
            <a:ext cx="2057400" cy="822960"/>
          </a:xfrm>
          <a:prstGeom prst="roundRect">
            <a:avLst/>
          </a:prstGeom>
          <a:solidFill>
            <a:srgbClr val="7C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56816" y="4370832"/>
            <a:ext cx="18105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Metrics Server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160520"/>
            <a:ext cx="2286000" cy="822960"/>
          </a:xfrm>
          <a:prstGeom prst="roundRect">
            <a:avLst/>
          </a:prstGeom>
          <a:solidFill>
            <a:srgbClr val="2F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37083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HPA  •  70% CPU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321808"/>
            <a:ext cx="3840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BEB8D0"/>
                </a:solidFill>
                <a:latin typeface="Aptos"/>
              </a:rPr>
              <a:t>CPU metrics → desired replicas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37083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C56FF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1417320"/>
            <a:ext cx="2560320" cy="434340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719072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C059"/>
                </a:solidFill>
                <a:latin typeface="Aptos"/>
              </a:rPr>
              <a:t>OPTIONAL AWS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331720"/>
            <a:ext cx="210312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EC2 + k3s
private endpoint
OIDC / SSM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251960"/>
            <a:ext cx="20116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Not deployed or accepted in this project evidence.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998464"/>
            <a:ext cx="9966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C059"/>
                </a:solidFill>
                <a:latin typeface="Aptos"/>
              </a:rPr>
              <a:t>Replicas share one node; scaling adds no node CPU and provides no 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02920"/>
          </a:xfrm>
          <a:prstGeom prst="rect">
            <a:avLst/>
          </a:prstGeom>
          <a:solidFill>
            <a:srgbClr val="7C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383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The Studio makes predictions inspectable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Real browser acceptance: samples/upload, overlays, table, downloads, mobile layout.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3716"/>
          </a:xfrm>
          <a:prstGeom prst="rect">
            <a:avLst/>
          </a:prstGeom>
          <a:solidFill>
            <a:srgbClr val="2F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9966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EB8D0"/>
                </a:solidFill>
                <a:latin typeface="Aptos"/>
              </a:rPr>
              <a:t>Source: results/evidence/detection-20261023/studio-mobile.png • docs/CI_CD.md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EB8D0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6583680" cy="4754880"/>
          </a:xfrm>
          <a:prstGeom prst="roundRect">
            <a:avLst/>
          </a:prstGeom>
          <a:solidFill>
            <a:srgbClr val="F9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udio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444752"/>
            <a:ext cx="5326844" cy="45537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508760"/>
            <a:ext cx="3657600" cy="434340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1810512"/>
            <a:ext cx="2971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6DCAE"/>
                </a:solidFill>
                <a:latin typeface="Aptos"/>
              </a:rPr>
              <a:t>LIVE DEMO CUES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304288"/>
            <a:ext cx="2971800" cy="3108960"/>
          </a:xfrm>
          <a:prstGeom prst="rect">
            <a:avLst/>
          </a:prstGeom>
          <a:noFill/>
        </p:spPr>
        <p:txBody>
          <a:bodyPr wrap="square" lIns="64008" rIns="36576" tIns="36576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Choose the cat sample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Run detection and read confidence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Inspect the original-coordinate box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Open the accessible detection table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Download annotated PNG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Keys and history stay in the tab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53212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C059"/>
                </a:solidFill>
                <a:latin typeface="Aptos"/>
              </a:rPr>
              <a:t>Functional sample only — not an accuracy benchmark.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02920"/>
          </a:xfrm>
          <a:prstGeom prst="rect">
            <a:avLst/>
          </a:prstGeom>
          <a:solidFill>
            <a:srgbClr val="7C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383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Sustained load reached three replicas — with heavy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Three local runs • 1 baseline VU • 8 sustained VUs • 180 seconds • validated k6 responses.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3716"/>
          </a:xfrm>
          <a:prstGeom prst="rect">
            <a:avLst/>
          </a:prstGeom>
          <a:solidFill>
            <a:srgbClr val="2F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9966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EB8D0"/>
                </a:solidFill>
                <a:latin typeface="Aptos"/>
              </a:rPr>
              <a:t>Source: results/ANALYSIS.md • results/performance.csv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EB8D0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3337560" cy="137160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73152" cy="1371600"/>
          </a:xfrm>
          <a:prstGeom prst="rect">
            <a:avLst/>
          </a:prstGeom>
          <a:solidFill>
            <a:srgbClr val="56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37360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10.726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67712"/>
            <a:ext cx="27432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successful req/s
mean sustained goodput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1508760"/>
            <a:ext cx="3337560" cy="137160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79" y="1508760"/>
            <a:ext cx="73152" cy="1371600"/>
          </a:xfrm>
          <a:prstGeom prst="rect">
            <a:avLst/>
          </a:prstGeom>
          <a:solidFill>
            <a:srgbClr val="7C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737360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483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599" y="2267712"/>
            <a:ext cx="27432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mean per-run
successful p95 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1508760"/>
            <a:ext cx="3337560" cy="137160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1508760"/>
            <a:ext cx="73152" cy="1371600"/>
          </a:xfrm>
          <a:prstGeom prst="rect">
            <a:avLst/>
          </a:prstGeom>
          <a:solidFill>
            <a:srgbClr val="FFC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1" y="1737360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128,547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67712"/>
            <a:ext cx="27432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HTTP 429 capacity
rejections (separate)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246120"/>
            <a:ext cx="6812280" cy="233172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502152"/>
            <a:ext cx="5120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6DCAE"/>
                </a:solidFill>
                <a:latin typeface="Aptos"/>
              </a:rPr>
              <a:t>ATTEMPT ACCOUNTING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77639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134,363 attempts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98848"/>
            <a:ext cx="3291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5,792 successful detections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977639"/>
            <a:ext cx="2926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C059"/>
                </a:solidFill>
                <a:latin typeface="Aptos"/>
              </a:rPr>
              <a:t>95.689% unsuccessful attempts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498848"/>
            <a:ext cx="29260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EB8D0"/>
                </a:solidFill>
                <a:latin typeface="Aptos"/>
              </a:rPr>
              <a:t>24 interrupted • 0 invalid 200 • 0 unexpected 4xx • 0 5xx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246120"/>
            <a:ext cx="3337560" cy="233172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502152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C059"/>
                </a:solidFill>
                <a:latin typeface="Aptos"/>
              </a:rPr>
              <a:t>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977639"/>
            <a:ext cx="26974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"/>
              </a:rPr>
              <a:t>This was saturation, not an SLA.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892040"/>
            <a:ext cx="2697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429s are rejected work, not successful inference throughput.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EB8D0"/>
                </a:solidFill>
                <a:latin typeface="Aptos"/>
              </a:rPr>
              <a:t>Baseline: 1.922 req/s mean goodput • 129.183 ms mean successful p95.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02920"/>
          </a:xfrm>
          <a:prstGeom prst="rect">
            <a:avLst/>
          </a:prstGeom>
          <a:solidFill>
            <a:srgbClr val="7C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383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Scale-out is quick; scale-in follows stabilization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Historical samples contain replica and Pod metrics, but no node metrics.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3716"/>
          </a:xfrm>
          <a:prstGeom prst="rect">
            <a:avLst/>
          </a:prstGeom>
          <a:solidFill>
            <a:srgbClr val="2F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9966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EB8D0"/>
                </a:solidFill>
                <a:latin typeface="Aptos"/>
              </a:rPr>
              <a:t>Source: results/figures/detection-20261023-01.png • results/ANALYSIS.md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EB8D0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6583680" cy="4754880"/>
          </a:xfrm>
          <a:prstGeom prst="roundRect">
            <a:avLst/>
          </a:prstGeom>
          <a:solidFill>
            <a:srgbClr val="F9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tection-20261023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35608"/>
            <a:ext cx="3794760" cy="45537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1508760"/>
            <a:ext cx="3703320" cy="434340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1810512"/>
            <a:ext cx="2926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6DCAE"/>
                </a:solidFill>
                <a:latin typeface="Aptos"/>
              </a:rPr>
              <a:t>OBSERVED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286000"/>
            <a:ext cx="2971800" cy="3246120"/>
          </a:xfrm>
          <a:prstGeom prst="rect">
            <a:avLst/>
          </a:prstGeom>
          <a:noFill/>
        </p:spPr>
        <p:txBody>
          <a:bodyPr wrap="square" lIns="64008" rIns="36576" tIns="36576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1 → 3 ready Pods in 39–84 seconds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Return to one in 424–439 seconds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300-second HPA scale-down stabilization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Complete sustained Pod metrics: 14/36, 16/36, 16/36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Single node: no HA or linear-capacity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5532120"/>
            <a:ext cx="2971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C059"/>
                </a:solidFill>
                <a:latin typeface="Aptos"/>
              </a:rPr>
              <a:t>Historical gaps are unknown, not zero. New recorder tracks node + Pod reasons.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02920"/>
          </a:xfrm>
          <a:prstGeom prst="rect">
            <a:avLst/>
          </a:prstGeom>
          <a:solidFill>
            <a:srgbClr val="7C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383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Bounded, hardened, and locally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Evidence distinguishes local implementation checks from hosted/cloud acceptance.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3716"/>
          </a:xfrm>
          <a:prstGeom prst="rect">
            <a:avLst/>
          </a:prstGeom>
          <a:solidFill>
            <a:srgbClr val="2F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9966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EB8D0"/>
                </a:solidFill>
                <a:latin typeface="Aptos"/>
              </a:rPr>
              <a:t>Source: docs/EVIDENCE.md • docs/FINAL_REPORT.md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EB8D0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120640" cy="438912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719072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6DCAE"/>
                </a:solidFill>
                <a:latin typeface="Aptos"/>
              </a:rPr>
              <a:t>RUNTIME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94560"/>
            <a:ext cx="4343400" cy="3154680"/>
          </a:xfrm>
          <a:prstGeom prst="rect">
            <a:avLst/>
          </a:prstGeom>
          <a:noFill/>
        </p:spPr>
        <p:txBody>
          <a:bodyPr wrap="square" lIns="64008" rIns="36576" tIns="36576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Non-root container (UID 10001)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Read-only root; capabilities dropped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Image byte/pixel limits and content checks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Bounded inference slots and timeout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Optional API key; no key persistence in Studio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Pinned model digest and CPU-only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074920" cy="438912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719072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6DCAE"/>
                </a:solidFill>
                <a:latin typeface="Aptos"/>
              </a:rPr>
              <a:t>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148840"/>
            <a:ext cx="1280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277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50008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EB8D0"/>
                </a:solidFill>
                <a:latin typeface="Aptos"/>
              </a:rPr>
              <a:t>Python tests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926080"/>
            <a:ext cx="1280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127248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EB8D0"/>
                </a:solidFill>
                <a:latin typeface="Aptos"/>
              </a:rPr>
              <a:t>frontend contract tests passed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858768"/>
            <a:ext cx="42062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Edge browser gate passed; screenshots retained.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526280"/>
            <a:ext cx="42519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Terraform 1.9.8 local checks passed; CI pins 1.15.8 (not hosted-verified).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5349240"/>
            <a:ext cx="4251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C059"/>
                </a:solidFill>
                <a:latin typeface="Aptos"/>
              </a:rPr>
              <a:t>No hosted CI result or AWS deployment is claimed.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02920"/>
          </a:xfrm>
          <a:prstGeom prst="rect">
            <a:avLst/>
          </a:prstGeom>
          <a:solidFill>
            <a:srgbClr val="7C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383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What the evidence supports — and what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B8D0"/>
                </a:solidFill>
                <a:latin typeface="Aptos"/>
              </a:rPr>
              <a:t>A reproducible local object-detection lab; external acceptance is clearly identified.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3716"/>
          </a:xfrm>
          <a:prstGeom prst="rect">
            <a:avLst/>
          </a:prstGeom>
          <a:solidFill>
            <a:srgbClr val="2F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9966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EB8D0"/>
                </a:solidFill>
                <a:latin typeface="Aptos"/>
              </a:rPr>
              <a:t>Sources: docs/FINAL_REPORT.md • docs/DEMO.md • docs/EVIDENCE.md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EB8D0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074920" cy="438912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719072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6DCAE"/>
                </a:solidFill>
                <a:latin typeface="Aptos"/>
              </a:rPr>
              <a:t>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40280"/>
            <a:ext cx="4251960" cy="2423160"/>
          </a:xfrm>
          <a:prstGeom prst="rect">
            <a:avLst/>
          </a:prstGeom>
          <a:noFill/>
        </p:spPr>
        <p:txBody>
          <a:bodyPr wrap="square" lIns="64008" rIns="36576" tIns="36576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Real image detections on CPU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Hardened local container and API checks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HPA changed replicas under bounded load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Compact evidence replays byte-for-byte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074920" cy="4389120"/>
          </a:xfrm>
          <a:prstGeom prst="roundRect">
            <a:avLst/>
          </a:prstGeom>
          <a:solidFill>
            <a:srgbClr val="2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719072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C059"/>
                </a:solidFill>
                <a:latin typeface="Aptos"/>
              </a:rPr>
              <a:t>NOT YET ACCEPTED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240280"/>
            <a:ext cx="4251960" cy="2423160"/>
          </a:xfrm>
          <a:prstGeom prst="rect">
            <a:avLst/>
          </a:prstGeom>
          <a:noFill/>
        </p:spPr>
        <p:txBody>
          <a:bodyPr wrap="square" lIns="64008" rIns="36576" tIns="36576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Exact-commit hosted CI (needs push)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Fresh Minikube deployment (Docker unavailable)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AWS deployment / cloud HPA / billing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Individual member contribution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6007608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EB8D0"/>
                </a:solidFill>
                <a:latin typeface="Aptos"/>
              </a:rPr>
              <a:t>Roster in source specification: Hrit Singh • Aditya Vikram Manocha • Yoovan Pattnaik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Object Detection Serving Platform</dc:title>
  <dc:subject>CCD Lab Project delivery and measured local HPA results</dc:subject>
  <dc:creator>CCD Lab Project</dc:creator>
  <cp:keywords>YOLOv8n, ONNX, FastAPI, Kubernetes, HPA, CPU inference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